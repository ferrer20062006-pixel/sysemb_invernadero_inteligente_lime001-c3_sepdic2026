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6400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CAAC"/>
                </a:solidFill>
                <a:latin typeface="Aptos"/>
              </a:defRPr>
            </a:pPr>
            <a:r>
              <a:t>PROYECTO DE SISTEMAS EMBEBIDOS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400800" cy="1463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8FBFD"/>
                </a:solidFill>
                <a:latin typeface="Aptos"/>
              </a:defRPr>
            </a:pPr>
            <a:r>
              <a:t>INVERNADERO</a:t>
            </a:r>
          </a:p>
          <a:p>
            <a:pPr>
              <a:spcAft>
                <a:spcPts val="400"/>
              </a:spcAft>
              <a:defRPr sz="3600" b="1">
                <a:solidFill>
                  <a:srgbClr val="F8FBFD"/>
                </a:solidFill>
                <a:latin typeface="Aptos"/>
              </a:defRPr>
            </a:pPr>
            <a:r>
              <a:t>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99232"/>
            <a:ext cx="6035040" cy="70788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D7E5ED"/>
                </a:solidFill>
                <a:latin typeface="Aptos"/>
              </a:defRPr>
            </a:pPr>
            <a:r>
              <a:rPr dirty="0" err="1"/>
              <a:t>Ventilación</a:t>
            </a:r>
            <a:r>
              <a:rPr lang="es-MX" dirty="0"/>
              <a:t>, riego de agua</a:t>
            </a:r>
            <a:r>
              <a:rPr dirty="0"/>
              <a:t> y </a:t>
            </a:r>
            <a:r>
              <a:rPr dirty="0" err="1"/>
              <a:t>cubierta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con STM32F407G-DISC1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51960"/>
            <a:ext cx="5852160" cy="29260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CAAC"/>
                </a:solidFill>
                <a:latin typeface="Aptos"/>
              </a:defRPr>
            </a:pPr>
            <a:r>
              <a:rPr dirty="0"/>
              <a:t>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90288"/>
            <a:ext cx="6035040" cy="6858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8FBFD"/>
                </a:solidFill>
                <a:latin typeface="Aptos"/>
              </a:defRPr>
            </a:pPr>
            <a:r>
              <a:t>José Luis Ferrer Jiménez</a:t>
            </a:r>
          </a:p>
          <a:p>
            <a:pPr>
              <a:spcAft>
                <a:spcPts val="400"/>
              </a:spcAft>
              <a:defRPr sz="1700" b="0">
                <a:solidFill>
                  <a:srgbClr val="F8FBFD"/>
                </a:solidFill>
                <a:latin typeface="Aptos"/>
              </a:defRPr>
            </a:pPr>
            <a:r>
              <a:t>Israel León López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543800" y="2468880"/>
            <a:ext cx="0" cy="237744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543800" y="1417320"/>
            <a:ext cx="1737360" cy="105156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81160" y="1417320"/>
            <a:ext cx="1737360" cy="105156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018520" y="2468880"/>
            <a:ext cx="0" cy="237744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43800" y="2468880"/>
            <a:ext cx="3474720" cy="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99248" y="2587752"/>
            <a:ext cx="3154680" cy="2148840"/>
          </a:xfrm>
          <a:prstGeom prst="rect">
            <a:avLst/>
          </a:prstGeom>
          <a:solidFill>
            <a:srgbClr val="1F5363"/>
          </a:solidFill>
          <a:ln>
            <a:solidFill>
              <a:srgbClr val="5F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4160520"/>
            <a:ext cx="54864" cy="566928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74152" y="4315968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75320" y="4096512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4160520"/>
            <a:ext cx="54864" cy="566928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59952" y="4315968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0" y="4096512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0" y="4160520"/>
            <a:ext cx="54864" cy="566928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45752" y="4315968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46920" y="4096512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87000" y="4160520"/>
            <a:ext cx="54864" cy="566928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31552" y="4315968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332720" y="4096512"/>
            <a:ext cx="228600" cy="109728"/>
          </a:xfrm>
          <a:prstGeom prst="ellipse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rallelogram 25"/>
          <p:cNvSpPr/>
          <p:nvPr/>
        </p:nvSpPr>
        <p:spPr>
          <a:xfrm>
            <a:off x="7589520" y="1938528"/>
            <a:ext cx="3429000" cy="274320"/>
          </a:xfrm>
          <a:prstGeom prst="parallelogram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 rot="21120000">
            <a:off x="7818120" y="2926080"/>
            <a:ext cx="1051560" cy="713232"/>
          </a:xfrm>
          <a:prstGeom prst="rect">
            <a:avLst/>
          </a:prstGeom>
          <a:solidFill>
            <a:srgbClr val="367781"/>
          </a:solidFill>
          <a:ln>
            <a:solidFill>
              <a:srgbClr val="FFB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Greenhouse - Intelligent Greenhouse : 17 Steps (with Pictures) - Instructables">
            <a:extLst>
              <a:ext uri="{FF2B5EF4-FFF2-40B4-BE49-F238E27FC236}">
                <a16:creationId xmlns:a16="http://schemas.microsoft.com/office/drawing/2014/main" id="{C7FF6310-A0EA-4E39-828F-642B88958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670" y="1022319"/>
            <a:ext cx="5516164" cy="460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4">
            <a:extLst>
              <a:ext uri="{FF2B5EF4-FFF2-40B4-BE49-F238E27FC236}">
                <a16:creationId xmlns:a16="http://schemas.microsoft.com/office/drawing/2014/main" id="{D8601B42-EB41-4B16-81EB-BA4510ACFE70}"/>
              </a:ext>
            </a:extLst>
          </p:cNvPr>
          <p:cNvSpPr txBox="1"/>
          <p:nvPr/>
        </p:nvSpPr>
        <p:spPr>
          <a:xfrm>
            <a:off x="777240" y="5379160"/>
            <a:ext cx="5852160" cy="543739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CAAC"/>
                </a:solidFill>
                <a:latin typeface="Aptos"/>
              </a:defRPr>
            </a:pPr>
            <a:r>
              <a:rPr lang="es-MX" dirty="0"/>
              <a:t>GRUPO</a:t>
            </a:r>
          </a:p>
          <a:p>
            <a:pPr>
              <a:spcAft>
                <a:spcPts val="400"/>
              </a:spcAft>
              <a:defRPr sz="1300" b="1">
                <a:solidFill>
                  <a:srgbClr val="2DCAAC"/>
                </a:solidFill>
                <a:latin typeface="Aptos"/>
              </a:defRPr>
            </a:pPr>
            <a:r>
              <a:rPr lang="es-MX" dirty="0">
                <a:solidFill>
                  <a:schemeClr val="bg1"/>
                </a:solidFill>
              </a:rPr>
              <a:t>LIME001-C3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8FBFD"/>
                </a:solidFill>
                <a:latin typeface="Aptos"/>
              </a:defRPr>
            </a:pPr>
            <a:r>
              <a:t>1. Introducción y justificación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51560" cy="50292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AB1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1874519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5056631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DCAAC"/>
                </a:solidFill>
                <a:latin typeface="Aptos"/>
              </a:defRPr>
            </a:pPr>
            <a:r>
              <a:t>PROBLEMÁTICA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19656"/>
            <a:ext cx="5056631" cy="1307591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En un invernadero, la temperatura y las condiciones ambientales pueden cambiar rápidamente. La ventilación y la protección manual requieren supervisión constante y pueden retrasarse.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1874519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874519"/>
          </a:xfrm>
          <a:prstGeom prst="rect">
            <a:avLst/>
          </a:prstGeom>
          <a:solidFill>
            <a:srgbClr val="5F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7"/>
            <a:ext cx="501091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5FC6DC"/>
                </a:solidFill>
                <a:latin typeface="Aptos"/>
              </a:defRPr>
            </a:pPr>
            <a:r>
              <a:t>PROPUESTA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19656"/>
            <a:ext cx="5010912" cy="1307591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Desarrollar una maqueta que abra una ventana para ventilar y despliegue una cubierta ante una condición ambiental seleccionada, usando una tarjeta STM32.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474720" cy="18288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64008" cy="1828800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675887"/>
            <a:ext cx="318211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1CB7C"/>
                </a:solidFill>
                <a:latin typeface="Aptos"/>
              </a:defRPr>
            </a:pPr>
            <a:r>
              <a:t>IMPORTANCIA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59935"/>
            <a:ext cx="3182112" cy="12618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Permite demostrar automatización ambiental y reducir la intervención manual en tareas repetitivas.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566160"/>
            <a:ext cx="3474720" cy="18288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566160"/>
            <a:ext cx="64008" cy="1828800"/>
          </a:xfrm>
          <a:prstGeom prst="rect">
            <a:avLst/>
          </a:prstGeom>
          <a:solidFill>
            <a:srgbClr val="FFB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675887"/>
            <a:ext cx="318211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BF5C"/>
                </a:solidFill>
                <a:latin typeface="Aptos"/>
              </a:defRPr>
            </a:pPr>
            <a:r>
              <a:t>APLICACIÓN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059935"/>
            <a:ext cx="3182112" cy="12618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Base educativa para explorar control de invernaderos, protección de cultivos y monitoreo ambiental.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566160"/>
            <a:ext cx="3474720" cy="18288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566160"/>
            <a:ext cx="64008" cy="1828800"/>
          </a:xfrm>
          <a:prstGeom prst="rect">
            <a:avLst/>
          </a:prstGeom>
          <a:solidFill>
            <a:srgbClr val="F5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11312" y="3675887"/>
            <a:ext cx="318211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7570"/>
                </a:solidFill>
                <a:latin typeface="Aptos"/>
              </a:defRPr>
            </a:pPr>
            <a:r>
              <a:t>ALCANCE REALISTA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059935"/>
            <a:ext cx="3182112" cy="12618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Primero se validarán los servos con botones e interruptor; después se integrará un sensor ambiental digital.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8FBFD"/>
                </a:solidFill>
                <a:latin typeface="Aptos"/>
              </a:defRPr>
            </a:pPr>
            <a:r>
              <a:t>2. Objetivo y funcionamiento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51560" cy="50292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AB1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166360" cy="13716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4008" cy="1371600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89888"/>
            <a:ext cx="487375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DCAAC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873752" cy="8046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Construir un prototipo de invernadero que automatice la ventilación y la cubierta mediante servomotores controlados por STM32.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349240" cy="13716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64008" cy="1371600"/>
          </a:xfrm>
          <a:prstGeom prst="rect">
            <a:avLst/>
          </a:prstGeom>
          <a:solidFill>
            <a:srgbClr val="5F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389888"/>
            <a:ext cx="5056631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5FC6DC"/>
                </a:solidFill>
                <a:latin typeface="Aptos"/>
              </a:defRPr>
            </a:pPr>
            <a:r>
              <a:t>FUNCIONES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773936"/>
            <a:ext cx="5056631" cy="8046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8FBFD"/>
                </a:solidFill>
                <a:latin typeface="Aptos"/>
              </a:defRPr>
            </a:pPr>
            <a:r>
              <a:t>Servo 1: abrir/cerrar ventana. Servo 2: desplegar/recoger cubierta. Las entradas permiten activar pruebas y detectar una condición ambiental.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3246120" cy="1234440"/>
          </a:xfrm>
          <a:prstGeom prst="roundRect">
            <a:avLst/>
          </a:prstGeom>
          <a:solidFill>
            <a:srgbClr val="163148"/>
          </a:solidFill>
          <a:ln>
            <a:solidFill>
              <a:srgbClr val="71C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493008"/>
            <a:ext cx="301752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71CB7C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58768"/>
            <a:ext cx="301752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Cubierta recogida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Ventana según modo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05072" y="3950208"/>
            <a:ext cx="402335" cy="0"/>
          </a:xfrm>
          <a:prstGeom prst="line">
            <a:avLst/>
          </a:prstGeom>
          <a:ln w="25400">
            <a:solidFill>
              <a:srgbClr val="2DCA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26280" y="3337560"/>
            <a:ext cx="3246120" cy="1234440"/>
          </a:xfrm>
          <a:prstGeom prst="roundRect">
            <a:avLst/>
          </a:prstGeom>
          <a:solidFill>
            <a:srgbClr val="163148"/>
          </a:solidFill>
          <a:ln>
            <a:solidFill>
              <a:srgbClr val="FFB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8" y="3493008"/>
            <a:ext cx="301752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BF5C"/>
                </a:solidFill>
                <a:latin typeface="Aptos"/>
              </a:defRPr>
            </a:pPr>
            <a:r>
              <a:t>CONDICIÓN AMBIENTAL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3858768"/>
            <a:ext cx="301752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Activar protección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según lógica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32" y="3950208"/>
            <a:ext cx="402335" cy="0"/>
          </a:xfrm>
          <a:prstGeom prst="line">
            <a:avLst/>
          </a:prstGeom>
          <a:ln w="25400">
            <a:solidFill>
              <a:srgbClr val="2DCA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21040" y="3337560"/>
            <a:ext cx="3246120" cy="1234440"/>
          </a:xfrm>
          <a:prstGeom prst="roundRect">
            <a:avLst/>
          </a:prstGeom>
          <a:solidFill>
            <a:srgbClr val="163148"/>
          </a:solidFill>
          <a:ln>
            <a:solidFill>
              <a:srgbClr val="5F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3493008"/>
            <a:ext cx="301752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5FC6DC"/>
                </a:solidFill>
                <a:latin typeface="Aptos"/>
              </a:defRPr>
            </a:pPr>
            <a:r>
              <a:t>RECUPERACIÓN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858768"/>
            <a:ext cx="301752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Retirar cubierta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Restablecer ventana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8FBFD"/>
                </a:solidFill>
                <a:latin typeface="Aptos"/>
              </a:defRPr>
            </a:pPr>
            <a:r>
              <a:t>3. Diagrama de bloques técnico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51560" cy="50292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AB1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331720" cy="11430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4008" cy="1143000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203911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DCAAC"/>
                </a:solidFill>
                <a:latin typeface="Aptos"/>
              </a:defRPr>
            </a:pPr>
            <a:r>
              <a:t>ENTRADA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56816"/>
            <a:ext cx="2039112" cy="5760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Botón de modo /</a:t>
            </a:r>
          </a:p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inicio de prueba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2331720" cy="11430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64008" cy="1143000"/>
          </a:xfrm>
          <a:prstGeom prst="rect">
            <a:avLst/>
          </a:prstGeom>
          <a:solidFill>
            <a:srgbClr val="FFB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127248"/>
            <a:ext cx="203911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BF5C"/>
                </a:solidFill>
                <a:latin typeface="Aptos"/>
              </a:defRPr>
            </a:pPr>
            <a:r>
              <a:t>ENTRADA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511296"/>
            <a:ext cx="2039112" cy="5760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Interruptor o sensor</a:t>
            </a:r>
          </a:p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de lluvia digital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057400"/>
            <a:ext cx="2423160" cy="16002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0" y="2057400"/>
            <a:ext cx="64008" cy="1600200"/>
          </a:xfrm>
          <a:prstGeom prst="rect">
            <a:avLst/>
          </a:prstGeom>
          <a:solidFill>
            <a:srgbClr val="5F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1" y="2167128"/>
            <a:ext cx="213055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5FC6DC"/>
                </a:solidFill>
                <a:latin typeface="Aptos"/>
              </a:defRPr>
            </a:pPr>
            <a:r>
              <a:t>STM32F407G-DISC1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551176"/>
            <a:ext cx="2130552" cy="1033271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GPIO: leer entradas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Lógica de estados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Temporizadores PWM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417320"/>
            <a:ext cx="2057400" cy="11430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20" y="1417320"/>
            <a:ext cx="64008" cy="1143000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1527048"/>
            <a:ext cx="176479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1CB7C"/>
                </a:solidFill>
                <a:latin typeface="Aptos"/>
              </a:defRPr>
            </a:pPr>
            <a:r>
              <a:t>SERVO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1911095"/>
            <a:ext cx="1764792" cy="5760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Ventana de</a:t>
            </a:r>
          </a:p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ventilación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017520"/>
            <a:ext cx="2057400" cy="114300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3720" y="3017520"/>
            <a:ext cx="64008" cy="1143000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3127248"/>
            <a:ext cx="176479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1CB7C"/>
                </a:solidFill>
                <a:latin typeface="Aptos"/>
              </a:defRPr>
            </a:pPr>
            <a:r>
              <a:t>SERVO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3511296"/>
            <a:ext cx="1764792" cy="57607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Cubierta</a:t>
            </a:r>
          </a:p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retráctil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148840"/>
            <a:ext cx="2011680" cy="141732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46920" y="2148840"/>
            <a:ext cx="64008" cy="1417320"/>
          </a:xfrm>
          <a:prstGeom prst="rect">
            <a:avLst/>
          </a:prstGeom>
          <a:solidFill>
            <a:srgbClr val="FFB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11512" y="2258568"/>
            <a:ext cx="171907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BF5C"/>
                </a:solidFill>
                <a:latin typeface="Aptos"/>
              </a:defRPr>
            </a:pPr>
            <a:r>
              <a:t>MECANISMOS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2642616"/>
            <a:ext cx="1719072" cy="8503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Bisagra de ventana</a:t>
            </a:r>
          </a:p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Guía/carrete de cubierta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34640" y="2011680"/>
            <a:ext cx="822960" cy="502920"/>
          </a:xfrm>
          <a:prstGeom prst="line">
            <a:avLst/>
          </a:prstGeom>
          <a:ln w="25400">
            <a:solidFill>
              <a:srgbClr val="2DCA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34640" y="3108960"/>
            <a:ext cx="822960" cy="457200"/>
          </a:xfrm>
          <a:prstGeom prst="line">
            <a:avLst/>
          </a:prstGeom>
          <a:ln w="25400">
            <a:solidFill>
              <a:srgbClr val="2DCA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080760" y="2011680"/>
            <a:ext cx="822960" cy="54864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3063240"/>
            <a:ext cx="822960" cy="502920"/>
          </a:xfrm>
          <a:prstGeom prst="line">
            <a:avLst/>
          </a:prstGeom>
          <a:ln w="25400">
            <a:solidFill>
              <a:srgbClr val="5FC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61120" y="2011680"/>
            <a:ext cx="685800" cy="548640"/>
          </a:xfrm>
          <a:prstGeom prst="line">
            <a:avLst/>
          </a:prstGeom>
          <a:ln w="25400">
            <a:solidFill>
              <a:srgbClr val="71C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961120" y="3154680"/>
            <a:ext cx="685800" cy="411480"/>
          </a:xfrm>
          <a:prstGeom prst="line">
            <a:avLst/>
          </a:prstGeom>
          <a:ln w="25400">
            <a:solidFill>
              <a:srgbClr val="71C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85800" y="4800600"/>
            <a:ext cx="5120640" cy="96012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F5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" y="4910328"/>
            <a:ext cx="4828031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7570"/>
                </a:solidFill>
                <a:latin typeface="Aptos"/>
              </a:defRPr>
            </a:pPr>
            <a:r>
              <a:t>ALIMENTACIÓN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294376"/>
            <a:ext cx="4828031" cy="3931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Fuente adecuada para servos; tierra (GND) común con la STM32.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800600"/>
            <a:ext cx="5257800" cy="96012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26480" y="4800600"/>
            <a:ext cx="64008" cy="960120"/>
          </a:xfrm>
          <a:prstGeom prst="rect">
            <a:avLst/>
          </a:prstGeom>
          <a:solidFill>
            <a:srgbClr val="FFB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1072" y="4910328"/>
            <a:ext cx="496519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BF5C"/>
                </a:solidFill>
                <a:latin typeface="Aptos"/>
              </a:defRPr>
            </a:pPr>
            <a:r>
              <a:t>NOTA ELÉCTRICA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5294376"/>
            <a:ext cx="4965192" cy="3931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8FBFD"/>
                </a:solidFill>
                <a:latin typeface="Aptos"/>
              </a:defRPr>
            </a:pPr>
            <a:r>
              <a:t>No alimentar ambos servos desde el pin de 5 V de la placa. Verificar voltaje, corriente y corriente de arranque.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8FBFD"/>
                </a:solidFill>
                <a:latin typeface="Aptos"/>
              </a:defRPr>
            </a:pPr>
            <a:r>
              <a:t>4. Presupuesto estimado y viabilidad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51560" cy="50292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AB1C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52760" cy="475488"/>
          </a:xfrm>
          <a:prstGeom prst="roundRect">
            <a:avLst/>
          </a:prstGeom>
          <a:solidFill>
            <a:srgbClr val="163148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2 servomotores con torque adecuado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399032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$180–$400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92807"/>
            <a:ext cx="10652760" cy="475488"/>
          </a:xfrm>
          <a:prstGeom prst="roundRect">
            <a:avLst/>
          </a:prstGeom>
          <a:solidFill>
            <a:srgbClr val="1A374F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Material de maqueta (acrílico, MDF o cartón pluma)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965960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$150–$300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59736"/>
            <a:ext cx="10652760" cy="475488"/>
          </a:xfrm>
          <a:prstGeom prst="roundRect">
            <a:avLst/>
          </a:prstGeom>
          <a:solidFill>
            <a:srgbClr val="163148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32888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Bisagras, varillas, cuerda/guía para cubierta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532888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$80–$180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26663"/>
            <a:ext cx="10652760" cy="475488"/>
          </a:xfrm>
          <a:prstGeom prst="roundRect">
            <a:avLst/>
          </a:prstGeom>
          <a:solidFill>
            <a:srgbClr val="1A374F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99815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Botón e interruptor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099815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$30–$80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93591"/>
            <a:ext cx="10652760" cy="475488"/>
          </a:xfrm>
          <a:prstGeom prst="roundRect">
            <a:avLst/>
          </a:prstGeom>
          <a:solidFill>
            <a:srgbClr val="163148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66744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Sensor de lluvia digital (opcional en primera versión)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666744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$50–$150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10652760" cy="475488"/>
          </a:xfrm>
          <a:prstGeom prst="roundRect">
            <a:avLst/>
          </a:prstGeom>
          <a:solidFill>
            <a:srgbClr val="1A374F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233672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Fuente regulada, cables y conectores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233672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$100–$220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27448"/>
            <a:ext cx="10652760" cy="475488"/>
          </a:xfrm>
          <a:prstGeom prst="roundRect">
            <a:avLst/>
          </a:prstGeom>
          <a:solidFill>
            <a:srgbClr val="163148"/>
          </a:solidFill>
          <a:ln>
            <a:solidFill>
              <a:srgbClr val="2D4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790956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CAAC"/>
                </a:solidFill>
                <a:latin typeface="Aptos"/>
              </a:defRPr>
            </a:pPr>
            <a:r>
              <a:t>TOTAL ESTIMADO (sin STM32)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800600"/>
            <a:ext cx="2148840" cy="274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FFBF5C"/>
                </a:solidFill>
                <a:latin typeface="Aptos"/>
              </a:defRPr>
            </a:pPr>
            <a:r>
              <a:t>$590–$1,330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440680"/>
            <a:ext cx="4983480" cy="713232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440680"/>
            <a:ext cx="64008" cy="713232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5550408"/>
            <a:ext cx="469087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1CB7C"/>
                </a:solidFill>
                <a:latin typeface="Aptos"/>
              </a:defRPr>
            </a:pPr>
            <a:r>
              <a:t>VIABILIDAD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934456"/>
            <a:ext cx="4690872" cy="146304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t>Costo bajo-moderado y construcción por etapas.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5440680"/>
            <a:ext cx="5166360" cy="713232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5440680"/>
            <a:ext cx="64008" cy="713232"/>
          </a:xfrm>
          <a:prstGeom prst="rect">
            <a:avLst/>
          </a:prstGeom>
          <a:solidFill>
            <a:srgbClr val="5F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1" y="5550408"/>
            <a:ext cx="487375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5FC6DC"/>
                </a:solidFill>
                <a:latin typeface="Aptos"/>
              </a:defRPr>
            </a:pPr>
            <a:r>
              <a:t>AHORRO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1" y="5934456"/>
            <a:ext cx="4873752" cy="146304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t>Comenzar con interruptor digital y añadir sensor después.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8FBFD"/>
                </a:solidFill>
                <a:latin typeface="Aptos"/>
              </a:defRPr>
            </a:pPr>
            <a:r>
              <a:t>5. Diagrama de Gantt y fechas límite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51560" cy="50292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AB1C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246888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B1C2"/>
                </a:solidFill>
                <a:latin typeface="Aptos"/>
              </a:defRPr>
            </a:pPr>
            <a:r>
              <a:t>ACTIVIDAD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62708"/>
            <a:ext cx="2514600" cy="384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rPr dirty="0" err="1"/>
              <a:t>Investigación</a:t>
            </a:r>
            <a:r>
              <a:rPr dirty="0"/>
              <a:t> y </a:t>
            </a:r>
            <a:r>
              <a:rPr dirty="0" err="1"/>
              <a:t>arquitectura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85800" y="2122908"/>
            <a:ext cx="2514600" cy="384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mecánico</a:t>
            </a:r>
            <a:r>
              <a:rPr dirty="0"/>
              <a:t> y </a:t>
            </a:r>
            <a:r>
              <a:rPr dirty="0" err="1"/>
              <a:t>materiales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85800" y="2976906"/>
            <a:ext cx="2514600" cy="384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BFD"/>
                </a:solidFill>
                <a:latin typeface="Aptos"/>
              </a:defRPr>
            </a:pPr>
            <a:r>
              <a:rPr dirty="0"/>
              <a:t>ETAPA 2: </a:t>
            </a:r>
            <a:r>
              <a:rPr dirty="0" err="1"/>
              <a:t>maqueta</a:t>
            </a:r>
            <a:r>
              <a:rPr dirty="0"/>
              <a:t> y </a:t>
            </a:r>
            <a:r>
              <a:rPr dirty="0" err="1"/>
              <a:t>actuadores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85800" y="3433047"/>
            <a:ext cx="2514600" cy="384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t>Programación GPIO y PWM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17084"/>
            <a:ext cx="2514600" cy="384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rPr dirty="0" err="1"/>
              <a:t>Integración</a:t>
            </a:r>
            <a:r>
              <a:rPr dirty="0"/>
              <a:t> y </a:t>
            </a:r>
            <a:r>
              <a:rPr dirty="0" err="1"/>
              <a:t>pruebas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40080" y="4231125"/>
            <a:ext cx="2514600" cy="384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8FBFD"/>
                </a:solidFill>
                <a:latin typeface="Aptos"/>
              </a:defRPr>
            </a:pPr>
            <a:r>
              <a:rPr dirty="0"/>
              <a:t>ETAPA 3: </a:t>
            </a:r>
            <a:r>
              <a:rPr dirty="0" err="1"/>
              <a:t>validación</a:t>
            </a:r>
            <a:r>
              <a:rPr dirty="0"/>
              <a:t> y demo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F4FFAF30-4F22-46B1-9DD4-62F0DDB7D7A1}"/>
              </a:ext>
            </a:extLst>
          </p:cNvPr>
          <p:cNvSpPr/>
          <p:nvPr/>
        </p:nvSpPr>
        <p:spPr>
          <a:xfrm>
            <a:off x="3611880" y="1001052"/>
            <a:ext cx="1408176" cy="475488"/>
          </a:xfrm>
          <a:prstGeom prst="roundRect">
            <a:avLst/>
          </a:prstGeom>
          <a:solidFill>
            <a:srgbClr val="182F4D"/>
          </a:solidFill>
          <a:ln>
            <a:solidFill>
              <a:srgbClr val="18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83486D92-AE03-4496-939C-D53D4FB93AA0}"/>
              </a:ext>
            </a:extLst>
          </p:cNvPr>
          <p:cNvSpPr txBox="1"/>
          <p:nvPr/>
        </p:nvSpPr>
        <p:spPr>
          <a:xfrm>
            <a:off x="3639312" y="1138212"/>
            <a:ext cx="135331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>
                <a:solidFill>
                  <a:srgbClr val="FAFCFF"/>
                </a:solidFill>
                <a:latin typeface="Aptos"/>
              </a:rPr>
              <a:t>19–2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5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 OCT</a:t>
            </a: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4927EB03-8687-444F-BE7A-4B06581C5063}"/>
              </a:ext>
            </a:extLst>
          </p:cNvPr>
          <p:cNvSpPr/>
          <p:nvPr/>
        </p:nvSpPr>
        <p:spPr>
          <a:xfrm>
            <a:off x="5093208" y="1001052"/>
            <a:ext cx="1408176" cy="475488"/>
          </a:xfrm>
          <a:prstGeom prst="roundRect">
            <a:avLst/>
          </a:prstGeom>
          <a:solidFill>
            <a:srgbClr val="182F4D"/>
          </a:solidFill>
          <a:ln>
            <a:solidFill>
              <a:srgbClr val="18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2D1EF73C-E19C-4487-84A7-C6B113E192D0}"/>
              </a:ext>
            </a:extLst>
          </p:cNvPr>
          <p:cNvSpPr txBox="1"/>
          <p:nvPr/>
        </p:nvSpPr>
        <p:spPr>
          <a:xfrm>
            <a:off x="5120640" y="1138212"/>
            <a:ext cx="135331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>
                <a:solidFill>
                  <a:srgbClr val="FAFCFF"/>
                </a:solidFill>
                <a:latin typeface="Aptos"/>
              </a:rPr>
              <a:t>2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5-31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 OCT</a:t>
            </a:r>
          </a:p>
        </p:txBody>
      </p:sp>
      <p:sp>
        <p:nvSpPr>
          <p:cNvPr id="41" name="Rounded Rectangle 12">
            <a:extLst>
              <a:ext uri="{FF2B5EF4-FFF2-40B4-BE49-F238E27FC236}">
                <a16:creationId xmlns:a16="http://schemas.microsoft.com/office/drawing/2014/main" id="{3FFBB481-BC66-4219-B9D4-FCB331D1A7A0}"/>
              </a:ext>
            </a:extLst>
          </p:cNvPr>
          <p:cNvSpPr/>
          <p:nvPr/>
        </p:nvSpPr>
        <p:spPr>
          <a:xfrm>
            <a:off x="6574536" y="1001052"/>
            <a:ext cx="1408176" cy="475488"/>
          </a:xfrm>
          <a:prstGeom prst="roundRect">
            <a:avLst/>
          </a:prstGeom>
          <a:solidFill>
            <a:srgbClr val="182F4D"/>
          </a:solidFill>
          <a:ln>
            <a:solidFill>
              <a:srgbClr val="18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A4460721-06B7-44B7-A01D-2EF4BA544AF3}"/>
              </a:ext>
            </a:extLst>
          </p:cNvPr>
          <p:cNvSpPr txBox="1"/>
          <p:nvPr/>
        </p:nvSpPr>
        <p:spPr>
          <a:xfrm>
            <a:off x="6601968" y="1138212"/>
            <a:ext cx="135331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MX" sz="900" b="1" dirty="0">
                <a:solidFill>
                  <a:srgbClr val="FAFCFF"/>
                </a:solidFill>
                <a:latin typeface="Aptos"/>
              </a:rPr>
              <a:t>1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–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9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 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NOV</a:t>
            </a:r>
            <a:endParaRPr sz="900" b="1" dirty="0">
              <a:solidFill>
                <a:srgbClr val="FAFCFF"/>
              </a:solidFill>
              <a:latin typeface="Aptos"/>
            </a:endParaRPr>
          </a:p>
        </p:txBody>
      </p:sp>
      <p:sp>
        <p:nvSpPr>
          <p:cNvPr id="43" name="Rounded Rectangle 14">
            <a:extLst>
              <a:ext uri="{FF2B5EF4-FFF2-40B4-BE49-F238E27FC236}">
                <a16:creationId xmlns:a16="http://schemas.microsoft.com/office/drawing/2014/main" id="{128858A3-509B-47DB-B607-EF5453DAA4E4}"/>
              </a:ext>
            </a:extLst>
          </p:cNvPr>
          <p:cNvSpPr/>
          <p:nvPr/>
        </p:nvSpPr>
        <p:spPr>
          <a:xfrm>
            <a:off x="8055864" y="1001052"/>
            <a:ext cx="1408176" cy="475488"/>
          </a:xfrm>
          <a:prstGeom prst="roundRect">
            <a:avLst/>
          </a:prstGeom>
          <a:solidFill>
            <a:srgbClr val="182F4D"/>
          </a:solidFill>
          <a:ln>
            <a:solidFill>
              <a:srgbClr val="18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B6308FC9-4E13-499A-9FFE-3BC2372AC40C}"/>
              </a:ext>
            </a:extLst>
          </p:cNvPr>
          <p:cNvSpPr txBox="1"/>
          <p:nvPr/>
        </p:nvSpPr>
        <p:spPr>
          <a:xfrm>
            <a:off x="8083296" y="1138212"/>
            <a:ext cx="135331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MX" sz="900" b="1" dirty="0">
                <a:solidFill>
                  <a:srgbClr val="FAFCFF"/>
                </a:solidFill>
                <a:latin typeface="Aptos"/>
              </a:rPr>
              <a:t>10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–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24 NOV</a:t>
            </a:r>
            <a:endParaRPr sz="900" b="1" dirty="0">
              <a:solidFill>
                <a:srgbClr val="FAFCFF"/>
              </a:solidFill>
              <a:latin typeface="Aptos"/>
            </a:endParaRPr>
          </a:p>
        </p:txBody>
      </p:sp>
      <p:sp>
        <p:nvSpPr>
          <p:cNvPr id="45" name="Rounded Rectangle 16">
            <a:extLst>
              <a:ext uri="{FF2B5EF4-FFF2-40B4-BE49-F238E27FC236}">
                <a16:creationId xmlns:a16="http://schemas.microsoft.com/office/drawing/2014/main" id="{D1E8F234-2F3F-41BE-9162-E7BC8753AA59}"/>
              </a:ext>
            </a:extLst>
          </p:cNvPr>
          <p:cNvSpPr/>
          <p:nvPr/>
        </p:nvSpPr>
        <p:spPr>
          <a:xfrm>
            <a:off x="9537192" y="1001052"/>
            <a:ext cx="1408176" cy="475488"/>
          </a:xfrm>
          <a:prstGeom prst="roundRect">
            <a:avLst/>
          </a:prstGeom>
          <a:solidFill>
            <a:srgbClr val="182F4D"/>
          </a:solidFill>
          <a:ln>
            <a:solidFill>
              <a:srgbClr val="18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775B68A6-4842-4A75-96AA-AAD1A31A63E8}"/>
              </a:ext>
            </a:extLst>
          </p:cNvPr>
          <p:cNvSpPr txBox="1"/>
          <p:nvPr/>
        </p:nvSpPr>
        <p:spPr>
          <a:xfrm>
            <a:off x="9564624" y="1138212"/>
            <a:ext cx="135331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MX" sz="900" b="1" dirty="0">
                <a:solidFill>
                  <a:srgbClr val="FAFCFF"/>
                </a:solidFill>
                <a:latin typeface="Aptos"/>
              </a:rPr>
              <a:t>25 NOV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–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2</a:t>
            </a:r>
            <a:r>
              <a:rPr sz="900" b="1" dirty="0">
                <a:solidFill>
                  <a:srgbClr val="FAFCFF"/>
                </a:solidFill>
                <a:latin typeface="Aptos"/>
              </a:rPr>
              <a:t> </a:t>
            </a:r>
            <a:r>
              <a:rPr lang="es-MX" sz="900" b="1" dirty="0">
                <a:solidFill>
                  <a:srgbClr val="FAFCFF"/>
                </a:solidFill>
                <a:latin typeface="Aptos"/>
              </a:rPr>
              <a:t>DIC</a:t>
            </a:r>
            <a:endParaRPr sz="900" b="1" dirty="0">
              <a:solidFill>
                <a:srgbClr val="FAFCFF"/>
              </a:solidFill>
              <a:latin typeface="Aptos"/>
            </a:endParaRPr>
          </a:p>
        </p:txBody>
      </p:sp>
      <p:sp>
        <p:nvSpPr>
          <p:cNvPr id="47" name="Rectangle 19">
            <a:extLst>
              <a:ext uri="{FF2B5EF4-FFF2-40B4-BE49-F238E27FC236}">
                <a16:creationId xmlns:a16="http://schemas.microsoft.com/office/drawing/2014/main" id="{3A87776B-A4AE-46E6-8F60-2BA38BE325DD}"/>
              </a:ext>
            </a:extLst>
          </p:cNvPr>
          <p:cNvSpPr/>
          <p:nvPr/>
        </p:nvSpPr>
        <p:spPr>
          <a:xfrm>
            <a:off x="3611880" y="1705140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6AE8CA3E-17A7-4754-B588-FC3666031BF2}"/>
              </a:ext>
            </a:extLst>
          </p:cNvPr>
          <p:cNvSpPr/>
          <p:nvPr/>
        </p:nvSpPr>
        <p:spPr>
          <a:xfrm>
            <a:off x="3657600" y="1705140"/>
            <a:ext cx="1316736" cy="292608"/>
          </a:xfrm>
          <a:prstGeom prst="roundRect">
            <a:avLst/>
          </a:prstGeom>
          <a:solidFill>
            <a:srgbClr val="236FBE"/>
          </a:solidFill>
          <a:ln>
            <a:solidFill>
              <a:srgbClr val="23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22">
            <a:extLst>
              <a:ext uri="{FF2B5EF4-FFF2-40B4-BE49-F238E27FC236}">
                <a16:creationId xmlns:a16="http://schemas.microsoft.com/office/drawing/2014/main" id="{CB3DF3A5-F2EE-415A-BCCC-C9D147FEF4A5}"/>
              </a:ext>
            </a:extLst>
          </p:cNvPr>
          <p:cNvSpPr/>
          <p:nvPr/>
        </p:nvSpPr>
        <p:spPr>
          <a:xfrm>
            <a:off x="3611880" y="2134908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23">
            <a:extLst>
              <a:ext uri="{FF2B5EF4-FFF2-40B4-BE49-F238E27FC236}">
                <a16:creationId xmlns:a16="http://schemas.microsoft.com/office/drawing/2014/main" id="{87653845-8B47-4877-9FD9-445ABF7642D9}"/>
              </a:ext>
            </a:extLst>
          </p:cNvPr>
          <p:cNvSpPr/>
          <p:nvPr/>
        </p:nvSpPr>
        <p:spPr>
          <a:xfrm>
            <a:off x="5138928" y="2134908"/>
            <a:ext cx="2798064" cy="292608"/>
          </a:xfrm>
          <a:prstGeom prst="roundRect">
            <a:avLst/>
          </a:prstGeom>
          <a:solidFill>
            <a:srgbClr val="34BECD"/>
          </a:solidFill>
          <a:ln>
            <a:solidFill>
              <a:srgbClr val="3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25">
            <a:extLst>
              <a:ext uri="{FF2B5EF4-FFF2-40B4-BE49-F238E27FC236}">
                <a16:creationId xmlns:a16="http://schemas.microsoft.com/office/drawing/2014/main" id="{40598459-FB05-4996-94BA-9B5C1B21791E}"/>
              </a:ext>
            </a:extLst>
          </p:cNvPr>
          <p:cNvSpPr/>
          <p:nvPr/>
        </p:nvSpPr>
        <p:spPr>
          <a:xfrm>
            <a:off x="3611880" y="2564676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26">
            <a:extLst>
              <a:ext uri="{FF2B5EF4-FFF2-40B4-BE49-F238E27FC236}">
                <a16:creationId xmlns:a16="http://schemas.microsoft.com/office/drawing/2014/main" id="{10C15B63-6C5A-4F3C-9ED3-C3F4ABF9BCAC}"/>
              </a:ext>
            </a:extLst>
          </p:cNvPr>
          <p:cNvSpPr/>
          <p:nvPr/>
        </p:nvSpPr>
        <p:spPr>
          <a:xfrm>
            <a:off x="5138928" y="2564676"/>
            <a:ext cx="2798064" cy="292608"/>
          </a:xfrm>
          <a:prstGeom prst="roundRect">
            <a:avLst/>
          </a:prstGeom>
          <a:solidFill>
            <a:srgbClr val="F59D42"/>
          </a:solidFill>
          <a:ln>
            <a:solidFill>
              <a:srgbClr val="F5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018438B5-641B-4A0D-BB2A-8BEC87F37E4C}"/>
              </a:ext>
            </a:extLst>
          </p:cNvPr>
          <p:cNvSpPr/>
          <p:nvPr/>
        </p:nvSpPr>
        <p:spPr>
          <a:xfrm>
            <a:off x="3611880" y="2994444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75C280F7-1E36-4E5F-98BD-DE394CAA604F}"/>
              </a:ext>
            </a:extLst>
          </p:cNvPr>
          <p:cNvSpPr/>
          <p:nvPr/>
        </p:nvSpPr>
        <p:spPr>
          <a:xfrm>
            <a:off x="6620256" y="2994444"/>
            <a:ext cx="1316736" cy="292608"/>
          </a:xfrm>
          <a:prstGeom prst="roundRect">
            <a:avLst/>
          </a:prstGeom>
          <a:solidFill>
            <a:srgbClr val="36A674"/>
          </a:solidFill>
          <a:ln>
            <a:solidFill>
              <a:srgbClr val="36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31">
            <a:extLst>
              <a:ext uri="{FF2B5EF4-FFF2-40B4-BE49-F238E27FC236}">
                <a16:creationId xmlns:a16="http://schemas.microsoft.com/office/drawing/2014/main" id="{FA3EC967-8D18-44A6-B0EB-36E0400EC4D6}"/>
              </a:ext>
            </a:extLst>
          </p:cNvPr>
          <p:cNvSpPr/>
          <p:nvPr/>
        </p:nvSpPr>
        <p:spPr>
          <a:xfrm>
            <a:off x="3611880" y="3424212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32">
            <a:extLst>
              <a:ext uri="{FF2B5EF4-FFF2-40B4-BE49-F238E27FC236}">
                <a16:creationId xmlns:a16="http://schemas.microsoft.com/office/drawing/2014/main" id="{CE2993CF-4312-45EC-A184-2B4CEF56F038}"/>
              </a:ext>
            </a:extLst>
          </p:cNvPr>
          <p:cNvSpPr/>
          <p:nvPr/>
        </p:nvSpPr>
        <p:spPr>
          <a:xfrm>
            <a:off x="6620256" y="3424212"/>
            <a:ext cx="2798064" cy="292608"/>
          </a:xfrm>
          <a:prstGeom prst="roundRect">
            <a:avLst/>
          </a:prstGeom>
          <a:solidFill>
            <a:srgbClr val="236FBE"/>
          </a:solidFill>
          <a:ln>
            <a:solidFill>
              <a:srgbClr val="23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34">
            <a:extLst>
              <a:ext uri="{FF2B5EF4-FFF2-40B4-BE49-F238E27FC236}">
                <a16:creationId xmlns:a16="http://schemas.microsoft.com/office/drawing/2014/main" id="{63C773E1-15FC-46AC-B43D-7F94B2B97253}"/>
              </a:ext>
            </a:extLst>
          </p:cNvPr>
          <p:cNvSpPr/>
          <p:nvPr/>
        </p:nvSpPr>
        <p:spPr>
          <a:xfrm>
            <a:off x="3611880" y="3853980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2630033D-B533-47A6-B83D-26C89B64CD70}"/>
              </a:ext>
            </a:extLst>
          </p:cNvPr>
          <p:cNvSpPr/>
          <p:nvPr/>
        </p:nvSpPr>
        <p:spPr>
          <a:xfrm>
            <a:off x="8101584" y="3853980"/>
            <a:ext cx="1316736" cy="292608"/>
          </a:xfrm>
          <a:prstGeom prst="roundRect">
            <a:avLst/>
          </a:prstGeom>
          <a:solidFill>
            <a:srgbClr val="F59D42"/>
          </a:solidFill>
          <a:ln>
            <a:solidFill>
              <a:srgbClr val="F5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37">
            <a:extLst>
              <a:ext uri="{FF2B5EF4-FFF2-40B4-BE49-F238E27FC236}">
                <a16:creationId xmlns:a16="http://schemas.microsoft.com/office/drawing/2014/main" id="{134B0555-9D91-4B6D-8943-5CF4DC162005}"/>
              </a:ext>
            </a:extLst>
          </p:cNvPr>
          <p:cNvSpPr/>
          <p:nvPr/>
        </p:nvSpPr>
        <p:spPr>
          <a:xfrm>
            <a:off x="3611880" y="4283748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38">
            <a:extLst>
              <a:ext uri="{FF2B5EF4-FFF2-40B4-BE49-F238E27FC236}">
                <a16:creationId xmlns:a16="http://schemas.microsoft.com/office/drawing/2014/main" id="{55A32338-4744-44AF-8BC6-38917E4FFE7B}"/>
              </a:ext>
            </a:extLst>
          </p:cNvPr>
          <p:cNvSpPr/>
          <p:nvPr/>
        </p:nvSpPr>
        <p:spPr>
          <a:xfrm>
            <a:off x="8101584" y="4283748"/>
            <a:ext cx="2798064" cy="292608"/>
          </a:xfrm>
          <a:prstGeom prst="roundRect">
            <a:avLst/>
          </a:prstGeom>
          <a:solidFill>
            <a:srgbClr val="34BECD"/>
          </a:solidFill>
          <a:ln>
            <a:solidFill>
              <a:srgbClr val="3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40">
            <a:extLst>
              <a:ext uri="{FF2B5EF4-FFF2-40B4-BE49-F238E27FC236}">
                <a16:creationId xmlns:a16="http://schemas.microsoft.com/office/drawing/2014/main" id="{0AE223B6-5CD4-45A5-B512-4402C5A2C8DB}"/>
              </a:ext>
            </a:extLst>
          </p:cNvPr>
          <p:cNvSpPr/>
          <p:nvPr/>
        </p:nvSpPr>
        <p:spPr>
          <a:xfrm>
            <a:off x="3611880" y="4713516"/>
            <a:ext cx="7333488" cy="292608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41">
            <a:extLst>
              <a:ext uri="{FF2B5EF4-FFF2-40B4-BE49-F238E27FC236}">
                <a16:creationId xmlns:a16="http://schemas.microsoft.com/office/drawing/2014/main" id="{390AB28A-1C8B-464C-A538-2564BDAEC723}"/>
              </a:ext>
            </a:extLst>
          </p:cNvPr>
          <p:cNvSpPr/>
          <p:nvPr/>
        </p:nvSpPr>
        <p:spPr>
          <a:xfrm>
            <a:off x="9582912" y="4713516"/>
            <a:ext cx="1316736" cy="292608"/>
          </a:xfrm>
          <a:prstGeom prst="roundRect">
            <a:avLst/>
          </a:prstGeom>
          <a:solidFill>
            <a:srgbClr val="36A674"/>
          </a:solidFill>
          <a:ln>
            <a:solidFill>
              <a:srgbClr val="36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20">
            <a:extLst>
              <a:ext uri="{FF2B5EF4-FFF2-40B4-BE49-F238E27FC236}">
                <a16:creationId xmlns:a16="http://schemas.microsoft.com/office/drawing/2014/main" id="{D4106ACA-E372-4CA8-8F59-A245ED232FD5}"/>
              </a:ext>
            </a:extLst>
          </p:cNvPr>
          <p:cNvSpPr txBox="1"/>
          <p:nvPr/>
        </p:nvSpPr>
        <p:spPr>
          <a:xfrm>
            <a:off x="640080" y="2529456"/>
            <a:ext cx="2514600" cy="26161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8FBFD"/>
                </a:solidFill>
                <a:latin typeface="Aptos"/>
              </a:defRPr>
            </a:pPr>
            <a:r>
              <a:rPr lang="es-MX" dirty="0"/>
              <a:t>Prueba de motores y sensores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8FBFD"/>
                </a:solidFill>
                <a:latin typeface="Aptos"/>
              </a:defRPr>
            </a:pPr>
            <a:r>
              <a:rPr lang="es-MX" dirty="0"/>
              <a:t>6</a:t>
            </a:r>
            <a:r>
              <a:rPr dirty="0"/>
              <a:t>. </a:t>
            </a:r>
            <a:r>
              <a:rPr dirty="0" err="1"/>
              <a:t>Riesgos</a:t>
            </a:r>
            <a:r>
              <a:rPr dirty="0"/>
              <a:t>, </a:t>
            </a:r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conclusión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1051560" cy="50292"/>
          </a:xfrm>
          <a:prstGeom prst="rect">
            <a:avLst/>
          </a:prstGeom>
          <a:solidFill>
            <a:srgbClr val="2DC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65760" cy="1645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AB1C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173736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4008" cy="1737360"/>
          </a:xfrm>
          <a:prstGeom prst="rect">
            <a:avLst/>
          </a:prstGeom>
          <a:solidFill>
            <a:srgbClr val="F5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322783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7570"/>
                </a:solidFill>
                <a:latin typeface="Aptos"/>
              </a:defRPr>
            </a:pPr>
            <a:r>
              <a:t>RIESGOS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19656"/>
            <a:ext cx="3227832" cy="1170431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Servo insuficiente para la carga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Cubierta se atasca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Falsas lecturas del sensor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Alimentación inestable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73736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1737360"/>
          </a:xfrm>
          <a:prstGeom prst="rect">
            <a:avLst/>
          </a:prstGeom>
          <a:solidFill>
            <a:srgbClr val="FFB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435607"/>
            <a:ext cx="322783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BF5C"/>
                </a:solidFill>
                <a:latin typeface="Aptos"/>
              </a:defRPr>
            </a:pPr>
            <a:r>
              <a:t>MITIGACIÓN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19656"/>
            <a:ext cx="3227832" cy="1170431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Reducir peso de la cubierta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Usar guías y topes mecánicos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Probar el sensor por separado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Fuente externa adecuada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520440" cy="1737360"/>
          </a:xfrm>
          <a:prstGeom prst="roundRect">
            <a:avLst/>
          </a:prstGeom>
          <a:solidFill>
            <a:srgbClr val="163148"/>
          </a:solidFill>
          <a:ln>
            <a:solidFill>
              <a:srgbClr val="30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64008" cy="1737360"/>
          </a:xfrm>
          <a:prstGeom prst="rect">
            <a:avLst/>
          </a:prstGeom>
          <a:solidFill>
            <a:srgbClr val="71C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435607"/>
            <a:ext cx="3227832" cy="31089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1CB7C"/>
                </a:solidFill>
                <a:latin typeface="Aptos"/>
              </a:defRPr>
            </a:pPr>
            <a:r>
              <a:t>PRUEBAS DE ÉXITO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19656"/>
            <a:ext cx="3227832" cy="1170431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Abrir/cerrar ventana 10 veces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Desplegar/recoger cubierta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Responder a entrada digital</a:t>
            </a:r>
          </a:p>
          <a:p>
            <a:pPr>
              <a:spcAft>
                <a:spcPts val="400"/>
              </a:spcAft>
              <a:defRPr sz="1300" b="0">
                <a:solidFill>
                  <a:srgbClr val="F8FBFD"/>
                </a:solidFill>
                <a:latin typeface="Aptos"/>
              </a:defRPr>
            </a:pPr>
            <a:r>
              <a:t>• Ejecutar sin reinicios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1042416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CAAC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424160" cy="11430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8FBFD"/>
                </a:solidFill>
                <a:latin typeface="Aptos"/>
              </a:defRPr>
            </a:pPr>
            <a:r>
              <a:t>El invernadero inteligente es una propuesta viable para integrar mecánica, electrónica y programación embebida en una maqueta funcional. El desarrollo por etapas permite comenzar con dos servos y dos entradas digitales y, posteriormente, incorporar sensores ambientales y nuevas funciones.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581</Words>
  <Application>Microsoft Office PowerPoint</Application>
  <PresentationFormat>Panorámica</PresentationFormat>
  <Paragraphs>115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HP</dc:creator>
  <cp:keywords/>
  <dc:description>generated using python-pptx</dc:description>
  <cp:lastModifiedBy>HP</cp:lastModifiedBy>
  <cp:revision>5</cp:revision>
  <dcterms:created xsi:type="dcterms:W3CDTF">2013-01-27T09:14:16Z</dcterms:created>
  <dcterms:modified xsi:type="dcterms:W3CDTF">2026-10-23T02:33:42Z</dcterms:modified>
  <cp:category/>
</cp:coreProperties>
</file>